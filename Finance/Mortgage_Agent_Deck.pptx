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569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" cy="237744"/>
          </a:xfrm>
          <a:prstGeom prst="ellipse">
            <a:avLst/>
          </a:prstGeom>
          <a:ln w="1905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21792" y="576072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9536" y="438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mirrors</a:t>
            </a:r>
            <a:r>
              <a:rPr lang="en-US" sz="1400" b="1" dirty="0">
                <a:solidFill>
                  <a:srgbClr val="60A5FA"/>
                </a:solidFill>
                <a:ea typeface="Arial" pitchFamily="34" charset="-122"/>
                <a:cs typeface="Arial" pitchFamily="34" charset="-120"/>
              </a:rPr>
              <a:t>me</a:t>
            </a:r>
            <a:r>
              <a:rPr lang="en-US" sz="1400" b="1" dirty="0">
                <a:solidFill>
                  <a:srgbClr val="6E7B92"/>
                </a:solidFill>
                <a:ea typeface="Arial" pitchFamily="34" charset="-122"/>
                <a:cs typeface="Arial" pitchFamily="34" charset="-120"/>
              </a:rPr>
              <a:t>.ai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09560" y="1691640"/>
            <a:ext cx="3474720" cy="3474720"/>
          </a:xfrm>
          <a:prstGeom prst="ellipse">
            <a:avLst/>
          </a:prstGeom>
          <a:ln w="19050">
            <a:solidFill>
              <a:srgbClr val="60A5F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503920" y="2286000"/>
            <a:ext cx="2286000" cy="2286000"/>
          </a:xfrm>
          <a:prstGeom prst="ellipse">
            <a:avLst/>
          </a:prstGeom>
          <a:ln w="19050">
            <a:solidFill>
              <a:srgbClr val="60A5F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052560" y="2834640"/>
            <a:ext cx="1188720" cy="1188720"/>
          </a:xfrm>
          <a:prstGeom prst="ellipse">
            <a:avLst/>
          </a:prstGeom>
          <a:ln w="1905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445752" y="3227832"/>
            <a:ext cx="402336" cy="402336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ic_hom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048" y="3310128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2057400"/>
            <a:ext cx="7955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AI Mortgage</a:t>
            </a:r>
            <a:endParaRPr lang="en-US" sz="5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Advisory Agent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822960" y="397764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AA7BD"/>
                </a:solidFill>
                <a:ea typeface="Arial" pitchFamily="34" charset="-122"/>
                <a:cs typeface="Arial" pitchFamily="34" charset="-120"/>
              </a:rPr>
              <a:t>Conversational guidance from a borrower's first question to a clear, compliant recommendation.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22960" y="5897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0A5FA"/>
                </a:solidFill>
                <a:ea typeface="Arial" pitchFamily="34" charset="-122"/>
                <a:cs typeface="Arial" pitchFamily="34" charset="-120"/>
              </a:rPr>
              <a:t>Powered by mirrorsme.ai</a:t>
            </a:r>
            <a:r>
              <a:rPr lang="en-US" sz="1400" dirty="0">
                <a:solidFill>
                  <a:srgbClr val="6E7B92"/>
                </a:solidFill>
                <a:ea typeface="Arial" pitchFamily="34" charset="-122"/>
                <a:cs typeface="Arial" pitchFamily="34" charset="-120"/>
              </a:rPr>
              <a:t>   ·   I²OS Agentic Platform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457200"/>
            <a:ext cx="237744" cy="237744"/>
          </a:xfrm>
          <a:prstGeom prst="ellipse">
            <a:avLst/>
          </a:prstGeom>
          <a:ln w="1905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131552" y="530352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369296" y="3931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mirrors</a:t>
            </a:r>
            <a:r>
              <a:rPr lang="en-US" sz="1400" b="1" dirty="0">
                <a:solidFill>
                  <a:srgbClr val="60A5FA"/>
                </a:solidFill>
                <a:ea typeface="Arial" pitchFamily="34" charset="-122"/>
                <a:cs typeface="Arial" pitchFamily="34" charset="-120"/>
              </a:rPr>
              <a:t>me</a:t>
            </a:r>
            <a:r>
              <a:rPr lang="en-US" sz="1400" b="1" dirty="0">
                <a:solidFill>
                  <a:srgbClr val="6E7B92"/>
                </a:solidFill>
                <a:ea typeface="Arial" pitchFamily="34" charset="-122"/>
                <a:cs typeface="Arial" pitchFamily="34" charset="-120"/>
              </a:rPr>
              <a:t>.ai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0A5FA"/>
                </a:solidFill>
                <a:ea typeface="Arial" pitchFamily="34" charset="-122"/>
                <a:cs typeface="Arial" pitchFamily="34" charset="-120"/>
              </a:rPr>
              <a:t>USE CASE SUMMARY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Self-serve mortgage guidance, on demand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6766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1400"/>
              </a:spcAft>
              <a:buNone/>
            </a:pPr>
            <a:r>
              <a:rPr lang="en-US" sz="1650" dirty="0">
                <a:solidFill>
                  <a:srgbClr val="D6DEEC"/>
                </a:solidFill>
                <a:ea typeface="Arial" pitchFamily="34" charset="-122"/>
                <a:cs typeface="Arial" pitchFamily="34" charset="-120"/>
              </a:rPr>
              <a:t>Prospective borrowers face a confusing maze of loan types, rates, and eligibility rules — and loan officers spend hours answering the same early-stage questions before a lead is even qualified.</a:t>
            </a:r>
            <a:endParaRPr lang="en-US" sz="16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D6DEEC"/>
                </a:solidFill>
                <a:ea typeface="Arial" pitchFamily="34" charset="-122"/>
                <a:cs typeface="Arial" pitchFamily="34" charset="-120"/>
              </a:rPr>
              <a:t>The Mortgage Advisory Agent is a conversational assistant that interviews the borrower, looks up live product data, and returns a personalized recommendation — product, term, and likely rate — in minutes, then routes qualified leads to a licensed officer to close.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635240" y="1783080"/>
            <a:ext cx="3977640" cy="1371600"/>
          </a:xfrm>
          <a:prstGeom prst="roundRect">
            <a:avLst>
              <a:gd name="adj" fmla="val 6000"/>
            </a:avLst>
          </a:prstGeom>
          <a:solidFill>
            <a:srgbClr val="0F1A30"/>
          </a:solidFill>
          <a:ln w="12700">
            <a:solidFill>
              <a:srgbClr val="24324E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909560" y="198424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60A5FA"/>
                </a:solidFill>
                <a:ea typeface="Arial" pitchFamily="34" charset="-122"/>
                <a:cs typeface="Arial" pitchFamily="34" charset="-120"/>
              </a:rPr>
              <a:t>9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909560" y="2651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7BD"/>
                </a:solidFill>
                <a:ea typeface="Arial" pitchFamily="34" charset="-122"/>
                <a:cs typeface="Arial" pitchFamily="34" charset="-120"/>
              </a:rPr>
              <a:t>loan products compared instantly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635240" y="3355848"/>
            <a:ext cx="3977640" cy="1371600"/>
          </a:xfrm>
          <a:prstGeom prst="roundRect">
            <a:avLst>
              <a:gd name="adj" fmla="val 6000"/>
            </a:avLst>
          </a:prstGeom>
          <a:solidFill>
            <a:srgbClr val="0F1A30"/>
          </a:solidFill>
          <a:ln w="12700">
            <a:solidFill>
              <a:srgbClr val="24324E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909560" y="3557016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60A5FA"/>
                </a:solidFill>
                <a:ea typeface="Arial" pitchFamily="34" charset="-122"/>
                <a:cs typeface="Arial" pitchFamily="34" charset="-120"/>
              </a:rPr>
              <a:t>&lt; 3 min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7909560" y="42245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7BD"/>
                </a:solidFill>
                <a:ea typeface="Arial" pitchFamily="34" charset="-122"/>
                <a:cs typeface="Arial" pitchFamily="34" charset="-120"/>
              </a:rPr>
              <a:t>to a tailored recommendation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635240" y="4928616"/>
            <a:ext cx="3977640" cy="1371600"/>
          </a:xfrm>
          <a:prstGeom prst="roundRect">
            <a:avLst>
              <a:gd name="adj" fmla="val 6000"/>
            </a:avLst>
          </a:prstGeom>
          <a:solidFill>
            <a:srgbClr val="0F1A30"/>
          </a:solidFill>
          <a:ln w="12700">
            <a:solidFill>
              <a:srgbClr val="24324E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909560" y="512978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60A5FA"/>
                </a:solidFill>
                <a:ea typeface="Arial" pitchFamily="34" charset="-122"/>
                <a:cs typeface="Arial" pitchFamily="34" charset="-120"/>
              </a:rPr>
              <a:t>24/7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909560" y="579729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7BD"/>
                </a:solidFill>
                <a:ea typeface="Arial" pitchFamily="34" charset="-122"/>
                <a:cs typeface="Arial" pitchFamily="34" charset="-120"/>
              </a:rPr>
              <a:t>always-on first-touch advisor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457200"/>
            <a:ext cx="237744" cy="237744"/>
          </a:xfrm>
          <a:prstGeom prst="ellipse">
            <a:avLst/>
          </a:prstGeom>
          <a:ln w="1905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131552" y="530352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369296" y="3931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mirrors</a:t>
            </a:r>
            <a:r>
              <a:rPr lang="en-US" sz="1400" b="1" dirty="0">
                <a:solidFill>
                  <a:srgbClr val="60A5FA"/>
                </a:solidFill>
                <a:ea typeface="Arial" pitchFamily="34" charset="-122"/>
                <a:cs typeface="Arial" pitchFamily="34" charset="-120"/>
              </a:rPr>
              <a:t>me</a:t>
            </a:r>
            <a:r>
              <a:rPr lang="en-US" sz="1400" b="1" dirty="0">
                <a:solidFill>
                  <a:srgbClr val="6E7B92"/>
                </a:solidFill>
                <a:ea typeface="Arial" pitchFamily="34" charset="-122"/>
                <a:cs typeface="Arial" pitchFamily="34" charset="-120"/>
              </a:rPr>
              <a:t>.ai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0A5FA"/>
                </a:solidFill>
                <a:ea typeface="Arial" pitchFamily="34" charset="-122"/>
                <a:cs typeface="Arial" pitchFamily="34" charset="-120"/>
              </a:rPr>
              <a:t>HIGH-LEVEL SOLUTION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From conversation to recommendation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874520" cy="2880360"/>
          </a:xfrm>
          <a:prstGeom prst="roundRect">
            <a:avLst>
              <a:gd name="adj" fmla="val 4390"/>
            </a:avLst>
          </a:prstGeom>
          <a:solidFill>
            <a:srgbClr val="0F1A30"/>
          </a:solidFill>
          <a:ln w="12700">
            <a:solidFill>
              <a:srgbClr val="24324E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7280" y="2537460"/>
            <a:ext cx="777240" cy="777240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ic_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1590" y="2731770"/>
            <a:ext cx="388620" cy="3886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34747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Borrower chats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85800" y="397764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7BD"/>
                </a:solidFill>
                <a:ea typeface="Arial" pitchFamily="34" charset="-122"/>
                <a:cs typeface="Arial" pitchFamily="34" charset="-120"/>
              </a:rPr>
              <a:t>Asks questions in plain language through the chat widget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852928" y="2148840"/>
            <a:ext cx="1874520" cy="2880360"/>
          </a:xfrm>
          <a:prstGeom prst="roundRect">
            <a:avLst>
              <a:gd name="adj" fmla="val 4390"/>
            </a:avLst>
          </a:prstGeom>
          <a:solidFill>
            <a:srgbClr val="0F1A30"/>
          </a:solidFill>
          <a:ln w="12700">
            <a:solidFill>
              <a:srgbClr val="24324E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401568" y="2537460"/>
            <a:ext cx="777240" cy="777240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1" descr="ic_intak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5878" y="2731770"/>
            <a:ext cx="388620" cy="3886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44368" y="34747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Scan-first intake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2990088" y="397764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7BD"/>
                </a:solidFill>
                <a:ea typeface="Arial" pitchFamily="34" charset="-122"/>
                <a:cs typeface="Arial" pitchFamily="34" charset="-120"/>
              </a:rPr>
              <a:t>Agent gathers the full borrower profile in a few turns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157216" y="2148840"/>
            <a:ext cx="1874520" cy="2880360"/>
          </a:xfrm>
          <a:prstGeom prst="roundRect">
            <a:avLst>
              <a:gd name="adj" fmla="val 4390"/>
            </a:avLst>
          </a:prstGeom>
          <a:solidFill>
            <a:srgbClr val="0F1A30"/>
          </a:solidFill>
          <a:ln w="12700">
            <a:solidFill>
              <a:srgbClr val="24324E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5705856" y="2537460"/>
            <a:ext cx="777240" cy="777240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2" descr="ic_exc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0166" y="2731770"/>
            <a:ext cx="388620" cy="3886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48656" y="34747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Excel lookup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5294376" y="397764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7BD"/>
                </a:solidFill>
                <a:ea typeface="Arial" pitchFamily="34" charset="-122"/>
                <a:cs typeface="Arial" pitchFamily="34" charset="-120"/>
              </a:rPr>
              <a:t>Reads Borrower Inputs and the Rate Card for live pricing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461504" y="2148840"/>
            <a:ext cx="1874520" cy="2880360"/>
          </a:xfrm>
          <a:prstGeom prst="roundRect">
            <a:avLst>
              <a:gd name="adj" fmla="val 4390"/>
            </a:avLst>
          </a:prstGeom>
          <a:solidFill>
            <a:srgbClr val="0F1A30"/>
          </a:solidFill>
          <a:ln w="12700">
            <a:solidFill>
              <a:srgbClr val="24324E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8010144" y="2537460"/>
            <a:ext cx="777240" cy="777240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3" descr="ic_cal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4454" y="2731770"/>
            <a:ext cx="388620" cy="3886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552944" y="34747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Engine computes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7598664" y="397764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7BD"/>
                </a:solidFill>
                <a:ea typeface="Arial" pitchFamily="34" charset="-122"/>
                <a:cs typeface="Arial" pitchFamily="34" charset="-120"/>
              </a:rPr>
              <a:t>Payment, LTV, DTI and eligibility for every product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9765792" y="2148840"/>
            <a:ext cx="1874520" cy="2880360"/>
          </a:xfrm>
          <a:prstGeom prst="roundRect">
            <a:avLst>
              <a:gd name="adj" fmla="val 4390"/>
            </a:avLst>
          </a:prstGeom>
          <a:solidFill>
            <a:srgbClr val="0F1A30"/>
          </a:solidFill>
          <a:ln w="12700">
            <a:solidFill>
              <a:srgbClr val="24324E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10314432" y="2537460"/>
            <a:ext cx="777240" cy="777240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9" name="Image 4" descr="ic_rec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8742" y="2731770"/>
            <a:ext cx="388620" cy="3886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857232" y="34747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Recommend &amp; route</a:t>
            </a:r>
            <a:endParaRPr lang="en-US" sz="1450" dirty="0"/>
          </a:p>
        </p:txBody>
      </p:sp>
      <p:sp>
        <p:nvSpPr>
          <p:cNvPr id="31" name="Text 24"/>
          <p:cNvSpPr/>
          <p:nvPr/>
        </p:nvSpPr>
        <p:spPr>
          <a:xfrm>
            <a:off x="9902952" y="397764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7BD"/>
                </a:solidFill>
                <a:ea typeface="Arial" pitchFamily="34" charset="-122"/>
                <a:cs typeface="Arial" pitchFamily="34" charset="-120"/>
              </a:rPr>
              <a:t>Best plan + alternatives, then handoff to an officer</a:t>
            </a:r>
            <a:endParaRPr lang="en-US" sz="1100" dirty="0"/>
          </a:p>
        </p:txBody>
      </p:sp>
      <p:pic>
        <p:nvPicPr>
          <p:cNvPr id="32" name="Image 5" descr="ic_arro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10028" y="3461004"/>
            <a:ext cx="256032" cy="256032"/>
          </a:xfrm>
          <a:prstGeom prst="rect">
            <a:avLst/>
          </a:prstGeom>
        </p:spPr>
      </p:pic>
      <p:pic>
        <p:nvPicPr>
          <p:cNvPr id="33" name="Image 6" descr="ic_arro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4316" y="3461004"/>
            <a:ext cx="256032" cy="256032"/>
          </a:xfrm>
          <a:prstGeom prst="rect">
            <a:avLst/>
          </a:prstGeom>
        </p:spPr>
      </p:pic>
      <p:pic>
        <p:nvPicPr>
          <p:cNvPr id="34" name="Image 7" descr="ic_arro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8604" y="3461004"/>
            <a:ext cx="256032" cy="256032"/>
          </a:xfrm>
          <a:prstGeom prst="rect">
            <a:avLst/>
          </a:prstGeom>
        </p:spPr>
      </p:pic>
      <p:pic>
        <p:nvPicPr>
          <p:cNvPr id="35" name="Image 8" descr="ic_arro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22892" y="3461004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457200"/>
            <a:ext cx="237744" cy="237744"/>
          </a:xfrm>
          <a:prstGeom prst="ellipse">
            <a:avLst/>
          </a:prstGeom>
          <a:ln w="1905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131552" y="530352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369296" y="3931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mirrors</a:t>
            </a:r>
            <a:r>
              <a:rPr lang="en-US" sz="1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</a:t>
            </a:r>
            <a:r>
              <a:rPr lang="en-US" sz="1400" b="1" dirty="0">
                <a:solidFill>
                  <a:srgbClr val="6E7B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agent does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456432" cy="1874520"/>
          </a:xfrm>
          <a:prstGeom prst="roundRect">
            <a:avLst>
              <a:gd name="adj" fmla="val 4390"/>
            </a:avLst>
          </a:prstGeom>
          <a:solidFill>
            <a:srgbClr val="0F1A30"/>
          </a:solidFill>
          <a:ln w="12700">
            <a:solidFill>
              <a:srgbClr val="24324E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77824" y="2093976"/>
            <a:ext cx="658368" cy="658368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ic_inta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" y="225856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37360" y="2093976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intake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737360" y="2743200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Scan-first questioning collects the borrower profile in just a few turns.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416552" y="1783080"/>
            <a:ext cx="3456432" cy="1874520"/>
          </a:xfrm>
          <a:prstGeom prst="roundRect">
            <a:avLst>
              <a:gd name="adj" fmla="val 4390"/>
            </a:avLst>
          </a:prstGeom>
          <a:solidFill>
            <a:srgbClr val="0F1A30"/>
          </a:solidFill>
          <a:ln w="12700">
            <a:solidFill>
              <a:srgbClr val="24324E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745736" y="2093976"/>
            <a:ext cx="658368" cy="658368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1" descr="ic_look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0328" y="225856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05272" y="2093976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rate lookup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605272" y="2743200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Pulls product rates and rules from the Rate Card — never invents a number.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284464" y="1783080"/>
            <a:ext cx="3456432" cy="1874520"/>
          </a:xfrm>
          <a:prstGeom prst="roundRect">
            <a:avLst>
              <a:gd name="adj" fmla="val 4390"/>
            </a:avLst>
          </a:prstGeom>
          <a:solidFill>
            <a:srgbClr val="0F1A30"/>
          </a:solidFill>
          <a:ln w="12700">
            <a:solidFill>
              <a:srgbClr val="24324E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8613648" y="2093976"/>
            <a:ext cx="658368" cy="658368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2" descr="ic_eli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0" y="225856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473184" y="2093976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 screening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9473184" y="2743200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credit, down payment, LTV and DTI against each product's limits.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3977640"/>
            <a:ext cx="3456432" cy="1874520"/>
          </a:xfrm>
          <a:prstGeom prst="roundRect">
            <a:avLst>
              <a:gd name="adj" fmla="val 4390"/>
            </a:avLst>
          </a:prstGeom>
          <a:solidFill>
            <a:srgbClr val="0F1A30"/>
          </a:solidFill>
          <a:ln w="12700">
            <a:solidFill>
              <a:srgbClr val="24324E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877824" y="4288536"/>
            <a:ext cx="658368" cy="658368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3" descr="ic_cal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" y="4453128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737360" y="4288536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Affordability math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1737360" y="4937760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Computes monthly payment, full PITI, LTV and front / back-end DTI.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416552" y="3977640"/>
            <a:ext cx="3456432" cy="1874520"/>
          </a:xfrm>
          <a:prstGeom prst="roundRect">
            <a:avLst>
              <a:gd name="adj" fmla="val 4390"/>
            </a:avLst>
          </a:prstGeom>
          <a:solidFill>
            <a:srgbClr val="0F1A30"/>
          </a:solidFill>
          <a:ln w="12700">
            <a:solidFill>
              <a:srgbClr val="24324E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4745736" y="4288536"/>
            <a:ext cx="658368" cy="658368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9" name="Image 4" descr="ic_rec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0328" y="4453128"/>
            <a:ext cx="329184" cy="32918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605272" y="4288536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Goal-based recommendation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5605272" y="4937760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product, term and rate for the borrower's priority, with alternatives.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8284464" y="3977640"/>
            <a:ext cx="3456432" cy="1874520"/>
          </a:xfrm>
          <a:prstGeom prst="roundRect">
            <a:avLst>
              <a:gd name="adj" fmla="val 4390"/>
            </a:avLst>
          </a:prstGeom>
          <a:solidFill>
            <a:srgbClr val="0F1A30"/>
          </a:solidFill>
          <a:ln w="12700">
            <a:solidFill>
              <a:srgbClr val="24324E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6"/>
          <p:cNvSpPr/>
          <p:nvPr/>
        </p:nvSpPr>
        <p:spPr>
          <a:xfrm>
            <a:off x="8613648" y="4288536"/>
            <a:ext cx="658368" cy="658368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4" name="Image 5" descr="ic_hando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78240" y="4453128"/>
            <a:ext cx="329184" cy="32918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473184" y="4288536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Compliant handoff</a:t>
            </a:r>
            <a:endParaRPr lang="en-US" sz="1500" dirty="0"/>
          </a:p>
        </p:txBody>
      </p:sp>
      <p:sp>
        <p:nvSpPr>
          <p:cNvPr id="36" name="Text 28"/>
          <p:cNvSpPr/>
          <p:nvPr/>
        </p:nvSpPr>
        <p:spPr>
          <a:xfrm>
            <a:off x="9473184" y="4937760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Fair-lending guardrails, clear disclaimers, routing to a licensed officer.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457200"/>
            <a:ext cx="237744" cy="237744"/>
          </a:xfrm>
          <a:prstGeom prst="ellipse">
            <a:avLst/>
          </a:prstGeom>
          <a:ln w="1905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131552" y="530352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369296" y="3931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mirrors</a:t>
            </a:r>
            <a:r>
              <a:rPr lang="en-US" sz="1400" b="1" dirty="0">
                <a:solidFill>
                  <a:srgbClr val="60A5FA"/>
                </a:solidFill>
                <a:ea typeface="Arial" pitchFamily="34" charset="-122"/>
                <a:cs typeface="Arial" pitchFamily="34" charset="-120"/>
              </a:rPr>
              <a:t>me</a:t>
            </a:r>
            <a:r>
              <a:rPr lang="en-US" sz="1400" b="1" dirty="0">
                <a:solidFill>
                  <a:srgbClr val="6E7B92"/>
                </a:solidFill>
                <a:ea typeface="Arial" pitchFamily="34" charset="-122"/>
                <a:cs typeface="Arial" pitchFamily="34" charset="-120"/>
              </a:rPr>
              <a:t>.ai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0A5FA"/>
                </a:solidFill>
                <a:ea typeface="Arial" pitchFamily="34" charset="-122"/>
                <a:cs typeface="Arial" pitchFamily="34" charset="-120"/>
              </a:rPr>
              <a:t>BENEFITS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Value on both sides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0F1A30"/>
          </a:solidFill>
          <a:ln w="12700">
            <a:solidFill>
              <a:srgbClr val="24324E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37260" y="2107692"/>
            <a:ext cx="777240" cy="777240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ic_u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570" y="2302002"/>
            <a:ext cx="388620" cy="3886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920240" y="216712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For borrowers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051560" y="338328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D6DEEC"/>
                </a:solidFill>
                <a:ea typeface="Arial" pitchFamily="34" charset="-122"/>
                <a:cs typeface="Arial" pitchFamily="34" charset="-120"/>
              </a:rPr>
              <a:t>Instant, plain-language clarity on options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D6DEEC"/>
                </a:solidFill>
                <a:ea typeface="Arial" pitchFamily="34" charset="-122"/>
                <a:cs typeface="Arial" pitchFamily="34" charset="-120"/>
              </a:rPr>
              <a:t>Personalized recommendations, not generic info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D6DEEC"/>
                </a:solidFill>
                <a:ea typeface="Arial" pitchFamily="34" charset="-122"/>
                <a:cs typeface="Arial" pitchFamily="34" charset="-120"/>
              </a:rPr>
              <a:t>Available any time — no waiting for a callback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D6DEEC"/>
                </a:solidFill>
                <a:ea typeface="Arial" pitchFamily="34" charset="-122"/>
                <a:cs typeface="Arial" pitchFamily="34" charset="-120"/>
              </a:rPr>
              <a:t>Confidence and a plan before talking to a lender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245352" y="178308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0F1A30"/>
          </a:solidFill>
          <a:ln w="12700">
            <a:solidFill>
              <a:srgbClr val="24324E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633972" y="2107692"/>
            <a:ext cx="777240" cy="777240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1" descr="ic_biz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8282" y="2302002"/>
            <a:ext cx="388620" cy="3886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616952" y="216712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For the business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6748272" y="338328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D6DEEC"/>
                </a:solidFill>
                <a:ea typeface="Arial" pitchFamily="34" charset="-122"/>
                <a:cs typeface="Arial" pitchFamily="34" charset="-120"/>
              </a:rPr>
              <a:t>Faster lead qualification and higher conversion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D6DEEC"/>
                </a:solidFill>
                <a:ea typeface="Arial" pitchFamily="34" charset="-122"/>
                <a:cs typeface="Arial" pitchFamily="34" charset="-120"/>
              </a:rPr>
              <a:t>Consistent, compliant first-touch advice at scale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D6DEEC"/>
                </a:solidFill>
                <a:ea typeface="Arial" pitchFamily="34" charset="-122"/>
                <a:cs typeface="Arial" pitchFamily="34" charset="-120"/>
              </a:rPr>
              <a:t>Lower cost per inquiry; scales on demand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D6DEEC"/>
                </a:solidFill>
                <a:ea typeface="Arial" pitchFamily="34" charset="-122"/>
                <a:cs typeface="Arial" pitchFamily="34" charset="-120"/>
              </a:rPr>
              <a:t>Officers spend time closing, not on triage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457200"/>
            <a:ext cx="237744" cy="237744"/>
          </a:xfrm>
          <a:prstGeom prst="ellipse">
            <a:avLst/>
          </a:prstGeom>
          <a:ln w="1905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131552" y="530352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369296" y="3931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mirrors</a:t>
            </a:r>
            <a:r>
              <a:rPr lang="en-US" sz="1400" b="1" dirty="0">
                <a:solidFill>
                  <a:srgbClr val="60A5FA"/>
                </a:solidFill>
                <a:ea typeface="Arial" pitchFamily="34" charset="-122"/>
                <a:cs typeface="Arial" pitchFamily="34" charset="-120"/>
              </a:rPr>
              <a:t>me</a:t>
            </a:r>
            <a:r>
              <a:rPr lang="en-US" sz="1400" b="1" dirty="0">
                <a:solidFill>
                  <a:srgbClr val="6E7B92"/>
                </a:solidFill>
                <a:ea typeface="Arial" pitchFamily="34" charset="-122"/>
                <a:cs typeface="Arial" pitchFamily="34" charset="-120"/>
              </a:rPr>
              <a:t>.ai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0A5FA"/>
                </a:solidFill>
                <a:ea typeface="Arial" pitchFamily="34" charset="-122"/>
                <a:cs typeface="Arial" pitchFamily="34" charset="-120"/>
              </a:rPr>
              <a:t>TRUST &amp; COMPLIANCE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Built for a regulated process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0F1A30"/>
          </a:solidFill>
          <a:ln w="12700">
            <a:solidFill>
              <a:srgbClr val="24324E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37260" y="2107692"/>
            <a:ext cx="777240" cy="777240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ic_f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570" y="2302002"/>
            <a:ext cx="388620" cy="3886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965960" y="2093976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Fair lending (ECOA)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965960" y="26517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AA7BD"/>
                </a:solidFill>
                <a:ea typeface="Arial" pitchFamily="34" charset="-122"/>
                <a:cs typeface="Arial" pitchFamily="34" charset="-120"/>
              </a:rPr>
              <a:t>Recommendations use only objective financials — protected attributes are never collected or used.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36792" y="178308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0F1A30"/>
          </a:solidFill>
          <a:ln w="12700">
            <a:solidFill>
              <a:srgbClr val="24324E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725412" y="2107692"/>
            <a:ext cx="777240" cy="777240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1" descr="ic_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9722" y="2302002"/>
            <a:ext cx="388620" cy="3886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754112" y="2093976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Not an offer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7754112" y="26517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AA7BD"/>
                </a:solidFill>
                <a:ea typeface="Arial" pitchFamily="34" charset="-122"/>
                <a:cs typeface="Arial" pitchFamily="34" charset="-120"/>
              </a:rPr>
              <a:t>Figures are estimates; APR differs from the note rate; nothing is a commitment to lend.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48640" y="384048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0F1A30"/>
          </a:solidFill>
          <a:ln w="12700">
            <a:solidFill>
              <a:srgbClr val="24324E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937260" y="4165092"/>
            <a:ext cx="777240" cy="777240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2" descr="ic_privac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1570" y="4359402"/>
            <a:ext cx="388620" cy="3886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965960" y="4151376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Privacy by design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1965960" y="47091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AA7BD"/>
                </a:solidFill>
                <a:ea typeface="Arial" pitchFamily="34" charset="-122"/>
                <a:cs typeface="Arial" pitchFamily="34" charset="-120"/>
              </a:rPr>
              <a:t>No SSNs or documents in chat; data is minimized and passed to secure, human-handled channels.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336792" y="384048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0F1A30"/>
          </a:solidFill>
          <a:ln w="12700">
            <a:solidFill>
              <a:srgbClr val="24324E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725412" y="4165092"/>
            <a:ext cx="777240" cy="777240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3" descr="ic_hit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9722" y="4359402"/>
            <a:ext cx="388620" cy="3886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754112" y="4151376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Human in the loop</a:t>
            </a:r>
            <a:endParaRPr lang="en-US" sz="1650" dirty="0"/>
          </a:p>
        </p:txBody>
      </p:sp>
      <p:sp>
        <p:nvSpPr>
          <p:cNvPr id="26" name="Text 20"/>
          <p:cNvSpPr/>
          <p:nvPr/>
        </p:nvSpPr>
        <p:spPr>
          <a:xfrm>
            <a:off x="7754112" y="47091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AA7BD"/>
                </a:solidFill>
                <a:ea typeface="Arial" pitchFamily="34" charset="-122"/>
                <a:cs typeface="Arial" pitchFamily="34" charset="-120"/>
              </a:rPr>
              <a:t>The agent advises; a licensed officer verifies, pre-approves and locks the rate.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" cy="237744"/>
          </a:xfrm>
          <a:prstGeom prst="ellipse">
            <a:avLst/>
          </a:prstGeom>
          <a:ln w="1905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21792" y="576072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9536" y="438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mirrors</a:t>
            </a:r>
            <a:r>
              <a:rPr lang="en-US" sz="1400" b="1" dirty="0">
                <a:solidFill>
                  <a:srgbClr val="60A5FA"/>
                </a:solidFill>
                <a:ea typeface="Arial" pitchFamily="34" charset="-122"/>
                <a:cs typeface="Arial" pitchFamily="34" charset="-120"/>
              </a:rPr>
              <a:t>me</a:t>
            </a:r>
            <a:r>
              <a:rPr lang="en-US" sz="1400" b="1" dirty="0">
                <a:solidFill>
                  <a:srgbClr val="6E7B92"/>
                </a:solidFill>
                <a:ea typeface="Arial" pitchFamily="34" charset="-122"/>
                <a:cs typeface="Arial" pitchFamily="34" charset="-120"/>
              </a:rPr>
              <a:t>.ai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0A5FA"/>
                </a:solidFill>
                <a:ea typeface="Arial" pitchFamily="34" charset="-122"/>
                <a:cs typeface="Arial" pitchFamily="34" charset="-120"/>
              </a:rPr>
              <a:t>ROADMAP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Crawl. Walk. Run.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611880" cy="2651760"/>
          </a:xfrm>
          <a:prstGeom prst="roundRect">
            <a:avLst>
              <a:gd name="adj" fmla="val 3103"/>
            </a:avLst>
          </a:prstGeom>
          <a:solidFill>
            <a:srgbClr val="0F1A30"/>
          </a:solidFill>
          <a:ln w="12700">
            <a:solidFill>
              <a:srgbClr val="24324E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563EB"/>
                </a:solidFill>
                <a:ea typeface="Arial" pitchFamily="34" charset="-122"/>
                <a:cs typeface="Arial" pitchFamily="34" charset="-120"/>
              </a:rPr>
              <a:t>01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932688" y="36576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60A5FA"/>
                </a:solidFill>
                <a:ea typeface="Arial" pitchFamily="34" charset="-122"/>
                <a:cs typeface="Arial" pitchFamily="34" charset="-120"/>
              </a:rPr>
              <a:t>CRAWL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2688" y="406908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7BD"/>
                </a:solidFill>
                <a:ea typeface="Arial" pitchFamily="34" charset="-122"/>
                <a:cs typeface="Arial" pitchFamily="34" charset="-120"/>
              </a:rPr>
              <a:t>Guided estimator embedded on the site, an illustrative rate card, and instant recommendations.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44568" y="2606040"/>
            <a:ext cx="3611880" cy="2651760"/>
          </a:xfrm>
          <a:prstGeom prst="roundRect">
            <a:avLst>
              <a:gd name="adj" fmla="val 3103"/>
            </a:avLst>
          </a:prstGeom>
          <a:solidFill>
            <a:srgbClr val="0F1A30"/>
          </a:solidFill>
          <a:ln w="12700">
            <a:solidFill>
              <a:srgbClr val="24324E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10328" y="28803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563EB"/>
                </a:solidFill>
                <a:ea typeface="Arial" pitchFamily="34" charset="-122"/>
                <a:cs typeface="Arial" pitchFamily="34" charset="-120"/>
              </a:rPr>
              <a:t>02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928616" y="36576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60A5FA"/>
                </a:solidFill>
                <a:ea typeface="Arial" pitchFamily="34" charset="-122"/>
                <a:cs typeface="Arial" pitchFamily="34" charset="-120"/>
              </a:rPr>
              <a:t>WALK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28616" y="406908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7BD"/>
                </a:solidFill>
                <a:ea typeface="Arial" pitchFamily="34" charset="-122"/>
                <a:cs typeface="Arial" pitchFamily="34" charset="-120"/>
              </a:rPr>
              <a:t>Live rate / lender API feed, CRM handoff and lead scoring, plus analytics on borrower drop-off.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40496" y="2606040"/>
            <a:ext cx="3611880" cy="2651760"/>
          </a:xfrm>
          <a:prstGeom prst="roundRect">
            <a:avLst>
              <a:gd name="adj" fmla="val 3103"/>
            </a:avLst>
          </a:prstGeom>
          <a:solidFill>
            <a:srgbClr val="0F1A30"/>
          </a:solidFill>
          <a:ln w="12700">
            <a:solidFill>
              <a:srgbClr val="24324E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906256" y="28803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563EB"/>
                </a:solidFill>
                <a:ea typeface="Arial" pitchFamily="34" charset="-122"/>
                <a:cs typeface="Arial" pitchFamily="34" charset="-120"/>
              </a:rPr>
              <a:t>03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8924544" y="36576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60A5FA"/>
                </a:solidFill>
                <a:ea typeface="Arial" pitchFamily="34" charset="-122"/>
                <a:cs typeface="Arial" pitchFamily="34" charset="-120"/>
              </a:rPr>
              <a:t>RUN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924544" y="406908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7BD"/>
                </a:solidFill>
                <a:ea typeface="Arial" pitchFamily="34" charset="-122"/>
                <a:cs typeface="Arial" pitchFamily="34" charset="-120"/>
              </a:rPr>
              <a:t>Full pre-approval orchestration, document intake, and multi-market, multi-lender support.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806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D6DEEC"/>
                </a:solidFill>
                <a:ea typeface="Arial" pitchFamily="34" charset="-122"/>
                <a:cs typeface="Arial" pitchFamily="34" charset="-120"/>
              </a:rPr>
              <a:t>Let's put it in front of your borrowers.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552</Words>
  <Application>Microsoft Office PowerPoint</Application>
  <PresentationFormat>Widescreen</PresentationFormat>
  <Paragraphs>88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Mortgage Advisory Agent</dc:title>
  <dc:subject>PptxGenJS Presentation</dc:subject>
  <dc:creator>mirrorsme.ai</dc:creator>
  <cp:lastModifiedBy>Aparna Gawas</cp:lastModifiedBy>
  <cp:revision>2</cp:revision>
  <dcterms:created xsi:type="dcterms:W3CDTF">2026-06-23T16:16:01Z</dcterms:created>
  <dcterms:modified xsi:type="dcterms:W3CDTF">2026-06-24T16:18:53Z</dcterms:modified>
</cp:coreProperties>
</file>